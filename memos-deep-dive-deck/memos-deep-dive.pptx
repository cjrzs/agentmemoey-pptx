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5C8B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686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033"/>
                </a:solidFill>
              </a:rPr>
              <a:t>MemOS 深度调研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7"/>
                </a:solidFill>
              </a:rPr>
              <a:t>设计思路、核心概念、运行方式、数据保存、检索链路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93392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D8EAF6"/>
          </a:solidFill>
          <a:ln w="12700">
            <a:solidFill>
              <a:srgbClr val="D8EAF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2061972"/>
            <a:ext cx="13075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5C8B"/>
                </a:solidFill>
              </a:rPr>
              <a:t>仓库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212848" y="2039112"/>
            <a:ext cx="3566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github.com/MemTensor/MemOS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233172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DDEFE4"/>
          </a:solidFill>
          <a:ln w="12700">
            <a:solidFill>
              <a:srgbClr val="DDEFE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2400300"/>
            <a:ext cx="13075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D57"/>
                </a:solidFill>
              </a:rPr>
              <a:t>快照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12848" y="2377440"/>
            <a:ext cx="4389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033"/>
                </a:solidFill>
              </a:rPr>
              <a:t>2026-04-09 主干，latest commit: 45f4c1b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269480" y="1078992"/>
            <a:ext cx="3977640" cy="46634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16368" y="129844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5C8B"/>
                </a:solidFill>
              </a:rPr>
              <a:t>一句话判断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16368" y="1664208"/>
            <a:ext cx="3383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MemOS 不是“外挂一个向量库”的 memory 插件，而是在做一层 Memory Operating System。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34656" y="2852928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 MOSCore 统一编排多用户、多会话、多 MemCube。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把文本、偏好、KV cache、LoRA 等 memory 做成可插拔 backend。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既支持 SDK，也支持 REST API、MCP、Cloud 与 Self-hosted 两种模式。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" y="5715000"/>
            <a:ext cx="105156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5870448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677"/>
                </a:solidFill>
              </a:rPr>
              <a:t>本 deck 基于 README、源码、配置文件、API 入口与数据库后端实现整理。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64240" y="3474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7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5C8B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5C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85216"/>
            <a:ext cx="10241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它到底想解决什么问题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官方定位是“Memory Operating System for LLMs and AI agents”，目标不是单点检索，而是统一 store / retrieve / manage。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3749040" cy="429768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72768"/>
            <a:ext cx="3749040" cy="100584"/>
          </a:xfrm>
          <a:prstGeom prst="rect">
            <a:avLst/>
          </a:prstGeom>
          <a:solidFill>
            <a:srgbClr val="B94B57"/>
          </a:solidFill>
          <a:ln w="12700">
            <a:solidFill>
              <a:srgbClr val="B94B5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719072"/>
            <a:ext cx="3456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它想替代什么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" y="2029968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F8DDE2"/>
          </a:solidFill>
          <a:ln w="12700">
            <a:solidFill>
              <a:srgbClr val="F8DDE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098548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4B57"/>
                </a:solidFill>
              </a:rPr>
              <a:t>重点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86384" y="2377440"/>
            <a:ext cx="345643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只靠长上下文窗口，成本高且历史难维护。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只靠 embedding store，结构信息、权限、多模态、偏好都散落在外层逻辑。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 agent 自己写一套 memory pipeline，重复建设且难运维。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53712" y="1572768"/>
            <a:ext cx="3749040" cy="429768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53712" y="1572768"/>
            <a:ext cx="3749040" cy="100584"/>
          </a:xfrm>
          <a:prstGeom prst="rect">
            <a:avLst/>
          </a:prstGeom>
          <a:solidFill>
            <a:srgbClr val="195C8B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719072"/>
            <a:ext cx="3456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它提供什么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0016" y="2029968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D8EAF6"/>
          </a:solidFill>
          <a:ln w="12700">
            <a:solidFill>
              <a:srgbClr val="D8EAF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098548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5C8B"/>
                </a:solidFill>
              </a:rPr>
              <a:t>重点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00016" y="2377440"/>
            <a:ext cx="345643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 Memory API：add / search / update / delete / chat。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统一容器：MemCube，支持项目隔离、共享与动态组合。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统一运行面：MemReader 负责摄取，MemScheduler 负责异步调度。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67344" y="1572768"/>
            <a:ext cx="3063240" cy="429768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67344" y="1572768"/>
            <a:ext cx="3063240" cy="100584"/>
          </a:xfrm>
          <a:prstGeom prst="rect">
            <a:avLst/>
          </a:prstGeom>
          <a:solidFill>
            <a:srgbClr val="2F7D57"/>
          </a:solidFill>
          <a:ln w="12700">
            <a:solidFill>
              <a:srgbClr val="2F7D5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13648" y="1719072"/>
            <a:ext cx="2770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README 明确强调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13648" y="2029968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DDEFE4"/>
          </a:solidFill>
          <a:ln w="12700">
            <a:solidFill>
              <a:srgbClr val="DDEFE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68512" y="2098548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D57"/>
                </a:solidFill>
              </a:rPr>
              <a:t>重点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613648" y="2377440"/>
            <a:ext cx="277063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Multi-modal memory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Multi-Cube knowledge base management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 feedback &amp; correction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Enterprise-grade optimizations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Asynchronous ingestion via MemScheduler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064240" y="3474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7"/>
                </a:solidFill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677"/>
                </a:solidFill>
              </a:rPr>
              <a:t>关键信号：它的设计中心是“操作系统层编排”，而不是“某一种检索算法”。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5C8B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5C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MENTAL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85216"/>
            <a:ext cx="10241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最重要的抽象层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从源码上看，整体分成 5 层：OS Core、Cube、Memory Backend、Reader、Scheduler。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645920"/>
            <a:ext cx="1060704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96596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D8EAF6"/>
          </a:solidFill>
          <a:ln w="12700">
            <a:solidFill>
              <a:srgbClr val="195C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075688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MOS / MOSCore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3317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677"/>
                </a:solidFill>
              </a:rPr>
              <a:t>用户、session、chat、search、add 总控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37560" y="196596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DDEFE4"/>
          </a:solidFill>
          <a:ln w="12700">
            <a:solidFill>
              <a:srgbClr val="2F7D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07568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MemCube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233172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677"/>
                </a:solidFill>
              </a:rPr>
              <a:t>一个记忆容器 / namespace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40680" y="1965960"/>
            <a:ext cx="1874520" cy="822960"/>
          </a:xfrm>
          <a:prstGeom prst="roundRect">
            <a:avLst>
              <a:gd name="adj" fmla="val 6667"/>
            </a:avLst>
          </a:prstGeom>
          <a:solidFill>
            <a:srgbClr val="F8E7D3"/>
          </a:solidFill>
          <a:ln w="12700">
            <a:solidFill>
              <a:srgbClr val="B86B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207568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Memory Backends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233172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677"/>
                </a:solidFill>
              </a:rPr>
              <a:t>text / pref / act / para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26680" y="1965960"/>
            <a:ext cx="1600200" cy="822960"/>
          </a:xfrm>
          <a:prstGeom prst="roundRect">
            <a:avLst>
              <a:gd name="adj" fmla="val 6667"/>
            </a:avLst>
          </a:prstGeom>
          <a:solidFill>
            <a:srgbClr val="E4E0F6"/>
          </a:solidFill>
          <a:ln w="12700">
            <a:solidFill>
              <a:srgbClr val="5A4E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2075688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MemReader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18120" y="233172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677"/>
                </a:solidFill>
              </a:rPr>
              <a:t>把消息/文档转成记忆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646920" y="1965960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8DDE2"/>
          </a:solidFill>
          <a:ln w="12700">
            <a:solidFill>
              <a:srgbClr val="B94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38360" y="2075688"/>
            <a:ext cx="1143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Scheduler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738360" y="233172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677"/>
                </a:solidFill>
              </a:rPr>
              <a:t>异步与高并发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971800" y="2212848"/>
            <a:ext cx="219456" cy="256032"/>
          </a:xfrm>
          <a:prstGeom prst="chevron">
            <a:avLst/>
          </a:prstGeom>
          <a:solidFill>
            <a:srgbClr val="D6DEE8"/>
          </a:solidFill>
          <a:ln w="12700">
            <a:solidFill>
              <a:srgbClr val="D6DEE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66360" y="2212848"/>
            <a:ext cx="219456" cy="256032"/>
          </a:xfrm>
          <a:prstGeom prst="chevron">
            <a:avLst/>
          </a:prstGeom>
          <a:solidFill>
            <a:srgbClr val="D6DEE8"/>
          </a:solidFill>
          <a:ln w="12700">
            <a:solidFill>
              <a:srgbClr val="D6DEE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2212848"/>
            <a:ext cx="219456" cy="256032"/>
          </a:xfrm>
          <a:prstGeom prst="chevron">
            <a:avLst/>
          </a:prstGeom>
          <a:solidFill>
            <a:srgbClr val="D6DEE8"/>
          </a:solidFill>
          <a:ln w="12700">
            <a:solidFill>
              <a:srgbClr val="D6DEE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8320" y="2212848"/>
            <a:ext cx="219456" cy="256032"/>
          </a:xfrm>
          <a:prstGeom prst="chevron">
            <a:avLst/>
          </a:prstGeom>
          <a:solidFill>
            <a:srgbClr val="D6DEE8"/>
          </a:solidFill>
          <a:ln w="12700">
            <a:solidFill>
              <a:srgbClr val="D6DEE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32004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MOSCore 里最关键的方法是 `register_mem_cube()`、`add()`、`search()`、`chat()`。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MemCube 内部再挂不同 memory backend，形成“一个容器装多种记忆”的形态。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Reader 和 Scheduler 不直接回答问题，但决定了写入质量和系统吞吐。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51560" y="4526280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FCFDFE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61288" y="4636008"/>
            <a:ext cx="2843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5C8B"/>
                </a:solidFill>
              </a:rPr>
              <a:t>关键文件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61288" y="4837176"/>
            <a:ext cx="2843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mem_os/core.py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mem_cube/general.py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memories/factory.py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4526280" y="4526280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FCFDFE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36008" y="4636008"/>
            <a:ext cx="2843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5C8B"/>
                </a:solidFill>
              </a:rPr>
              <a:t>配置入口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36008" y="4837176"/>
            <a:ext cx="28437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configs/mem_os.py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configs/mem_cube.py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configs/memory.py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8001000" y="4526280"/>
            <a:ext cx="2697480" cy="1051560"/>
          </a:xfrm>
          <a:prstGeom prst="roundRect">
            <a:avLst>
              <a:gd name="adj" fmla="val 5217"/>
            </a:avLst>
          </a:prstGeom>
          <a:solidFill>
            <a:srgbClr val="FCFDFE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10728" y="4636008"/>
            <a:ext cx="24780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5C8B"/>
                </a:solidFill>
              </a:rPr>
              <a:t>运行面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10728" y="4837176"/>
            <a:ext cx="24780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api/server_api.py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api/mcp_serve.py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11064240" y="3474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7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5C8B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5C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MEMCUBE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85216"/>
            <a:ext cx="10241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MemCube 是它最核心的组织单位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MemCube 既是 memory 容器，也是隔离边界。用户、项目、agent 都可以通过 cube 拆分。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3977640" cy="448056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8288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5C8B"/>
                </a:solidFill>
              </a:rPr>
              <a:t>GeneralMemCubeConfig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176272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`user_id`：归属用户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`cube_id`：唯一容器 ID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`text_mem`：naive_text / general_text / tree_text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`act_mem`：kv_cache / vllm_kv_cache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`para_mem`：lora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`pref_mem`：pref_text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1627632"/>
            <a:ext cx="2971800" cy="4480560"/>
          </a:xfrm>
          <a:prstGeom prst="roundRect">
            <a:avLst>
              <a:gd name="adj" fmla="val 1846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84064" y="18288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7D57"/>
                </a:solidFill>
              </a:rPr>
              <a:t>register_mem_cube()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02352" y="2176272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支持直接传 `GeneralMemCube` 对象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支持从本地目录 load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支持从远端 repo init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会同时写入 `UserManager` 的 cube 访问关系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627632"/>
            <a:ext cx="3383280" cy="448056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8288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6B1D"/>
                </a:solidFill>
              </a:rPr>
              <a:t>为什么这个抽象重要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39328" y="217627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它把多 agent / 多项目 / 多用户隔离变成一等概念。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 user 可以访问多个 cube。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 cube 可以装多种 memory，不需要外层自行拼装。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064240" y="3474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7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677"/>
                </a:solidFill>
              </a:rPr>
              <a:t>源码里 `register_mem_cube()` 还会校验 user 对 cube 的访问权限，并同步到 user_manager。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5C8B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5C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 TYPES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85216"/>
            <a:ext cx="10241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它不是只有一种 memory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从配置和工厂映射上看，它显式区分 textual / activation / parametric / preference。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572768"/>
            <a:ext cx="27432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72768"/>
            <a:ext cx="2743200" cy="100584"/>
          </a:xfrm>
          <a:prstGeom prst="rect">
            <a:avLst/>
          </a:prstGeom>
          <a:solidFill>
            <a:srgbClr val="195C8B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19072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Textual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" y="2029968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D8EAF6"/>
          </a:solidFill>
          <a:ln w="12700">
            <a:solidFill>
              <a:srgbClr val="D8EAF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098548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5C8B"/>
                </a:solidFill>
              </a:rPr>
              <a:t>重点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04672" y="2377440"/>
            <a:ext cx="245059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`general_text`：向量库长期记忆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`tree_text`：图结构长期记忆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`naive_text`：更轻量的基础形态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11880" y="1572768"/>
            <a:ext cx="27432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1572768"/>
            <a:ext cx="2743200" cy="100584"/>
          </a:xfrm>
          <a:prstGeom prst="rect">
            <a:avLst/>
          </a:prstGeom>
          <a:solidFill>
            <a:srgbClr val="2F7D57"/>
          </a:solidFill>
          <a:ln w="12700">
            <a:solidFill>
              <a:srgbClr val="2F7D5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1719072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Activation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58184" y="2029968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DDEFE4"/>
          </a:solidFill>
          <a:ln w="12700">
            <a:solidFill>
              <a:srgbClr val="DDEFE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13048" y="2098548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D57"/>
                </a:solidFill>
              </a:rPr>
              <a:t>重点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758184" y="2377440"/>
            <a:ext cx="245059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`kv_cache`：基于模型内部 KV cache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`vllm_kv_cache`：适配 vLLM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只适合本地 HuggingFace / vLLM 类后端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65392" y="1572768"/>
            <a:ext cx="2423160" cy="44805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1572768"/>
            <a:ext cx="2423160" cy="100584"/>
          </a:xfrm>
          <a:prstGeom prst="rect">
            <a:avLst/>
          </a:prstGeom>
          <a:solidFill>
            <a:srgbClr val="5A4E9C"/>
          </a:solidFill>
          <a:ln w="12700">
            <a:solidFill>
              <a:srgbClr val="5A4E9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11696" y="1719072"/>
            <a:ext cx="2130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Parametric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11696" y="2029968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E4E0F6"/>
          </a:solidFill>
          <a:ln w="12700">
            <a:solidFill>
              <a:srgbClr val="E4E0F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098548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4E9C"/>
                </a:solidFill>
              </a:rPr>
              <a:t>重点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11696" y="2377440"/>
            <a:ext cx="213055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`lora`：参数化记忆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默认落成 adapter 文件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89720" y="1572768"/>
            <a:ext cx="2331720" cy="44805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89720" y="1572768"/>
            <a:ext cx="2331720" cy="100584"/>
          </a:xfrm>
          <a:prstGeom prst="rect">
            <a:avLst/>
          </a:prstGeom>
          <a:solidFill>
            <a:srgbClr val="B86B1D"/>
          </a:solidFill>
          <a:ln w="12700">
            <a:solidFill>
              <a:srgbClr val="B86B1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36024" y="1719072"/>
            <a:ext cx="2039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Preference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336024" y="2029968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F8E7D3"/>
          </a:solidFill>
          <a:ln w="12700">
            <a:solidFill>
              <a:srgbClr val="F8E7D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90888" y="2098548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6B1D"/>
                </a:solidFill>
              </a:rPr>
              <a:t>重点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336024" y="2377440"/>
            <a:ext cx="203911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`pref_text`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对用户偏好单独抽取、存储和检索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064240" y="3474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7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677"/>
                </a:solidFill>
              </a:rPr>
              <a:t>这也是它叫 Memory OS 的原因：它把不同 memory modality 作为可编排资源，而不是只保留一个 vector memory。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5C8B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5C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85216"/>
            <a:ext cx="10241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写入流程：先解析，再落到不同 memory backend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入口是 `MOSCore.add()`，支持 messages、纯文本、文档路径三种输入。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664208"/>
            <a:ext cx="106984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240280"/>
            <a:ext cx="1554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395728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输入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269748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C6677"/>
                </a:solidFill>
              </a:rPr>
              <a:t>messages / memory_content / doc_path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578608" y="2697480"/>
            <a:ext cx="256032" cy="256032"/>
          </a:xfrm>
          <a:prstGeom prst="chevron">
            <a:avLst/>
          </a:prstGeom>
          <a:solidFill>
            <a:srgbClr val="D6DEE8"/>
          </a:solidFill>
          <a:ln w="12700">
            <a:solidFill>
              <a:srgbClr val="D6DE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2240280"/>
            <a:ext cx="1554480" cy="1280160"/>
          </a:xfrm>
          <a:prstGeom prst="roundRect">
            <a:avLst>
              <a:gd name="adj" fmla="val 4286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4952" y="2395728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选 Cube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44952" y="269748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C6677"/>
                </a:solidFill>
              </a:rPr>
              <a:t>按 user_id 与 mem_cube_id 找目标容器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636008" y="2697480"/>
            <a:ext cx="256032" cy="256032"/>
          </a:xfrm>
          <a:prstGeom prst="chevron">
            <a:avLst/>
          </a:prstGeom>
          <a:solidFill>
            <a:srgbClr val="D6DEE8"/>
          </a:solidFill>
          <a:ln w="12700">
            <a:solidFill>
              <a:srgbClr val="D6DEE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2240280"/>
            <a:ext cx="1554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2352" y="2395728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MemReader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02352" y="269748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C6677"/>
                </a:solidFill>
              </a:rPr>
              <a:t>聊天转 memory item；文档做解析/切块/抽取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693408" y="2697480"/>
            <a:ext cx="256032" cy="256032"/>
          </a:xfrm>
          <a:prstGeom prst="chevron">
            <a:avLst/>
          </a:prstGeom>
          <a:solidFill>
            <a:srgbClr val="D6DEE8"/>
          </a:solidFill>
          <a:ln w="12700">
            <a:solidFill>
              <a:srgbClr val="D6DEE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240280"/>
            <a:ext cx="1554480" cy="1280160"/>
          </a:xfrm>
          <a:prstGeom prst="roundRect">
            <a:avLst>
              <a:gd name="adj" fmla="val 4286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9752" y="2395728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Memory.add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59752" y="269748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C6677"/>
                </a:solidFill>
              </a:rPr>
              <a:t>调用 text_mem / pref_mem 等 backend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8750808" y="2697480"/>
            <a:ext cx="256032" cy="256032"/>
          </a:xfrm>
          <a:prstGeom prst="chevron">
            <a:avLst/>
          </a:prstGeom>
          <a:solidFill>
            <a:srgbClr val="D6DEE8"/>
          </a:solidFill>
          <a:ln w="12700">
            <a:solidFill>
              <a:srgbClr val="D6DEE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0" y="2240280"/>
            <a:ext cx="1554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17152" y="2395728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Scheduler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17152" y="2697480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C6677"/>
                </a:solidFill>
              </a:rPr>
              <a:t>异步模式继续增强、重排、补写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960120" y="397764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`tree_text` 不会直接把原始话术塞进库，而是先经 `mem_reader.get_memory()` 做结构化抽取。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文档输入支持 `.txt .pdf .json .md .ppt .pptx` 等。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 `mode=async`，`MemScheduler` 会接手后续处理。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064240" y="3474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7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5C8B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5C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GENERAL 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85216"/>
            <a:ext cx="10241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`general_text`：标准向量记忆实现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这是最接近常见 memory 库的部分：LLM 抽取 -&gt; embedding -&gt; VecDB。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600200"/>
            <a:ext cx="51663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105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5C8B"/>
                </a:solidFill>
              </a:rPr>
              <a:t>写入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084832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`extract()` 用 LLM 按 prompt 抽 `memory list` JSON。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`add()` 对 `memory` 文本做 embedding。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 `VecDBItem(id, vector, payload)` 后写入 Qdrant / Milvus。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68680" y="39502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7D57"/>
                </a:solidFill>
              </a:rPr>
              <a:t>检索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4224528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`search(query)` 先 embed query。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再做向量相似度搜索，按 score 排序。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返回 `TextualMemoryItem` 列表。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5440680" cy="4526280"/>
          </a:xfrm>
          <a:prstGeom prst="roundRect">
            <a:avLst>
              <a:gd name="adj" fmla="val 1212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181051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6B1D"/>
                </a:solidFill>
              </a:rPr>
              <a:t>意味着什么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82512" y="2084832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它适合快速接入、语义召回、部署心智成本低。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但结构信息主要还是靠 payload，不像 `tree_text` 那样天然是图。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如果你的 agent memory 需求接近“个人长期偏好 + 语义回忆”，这是更轻的选项。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355080" y="4069080"/>
            <a:ext cx="4526280" cy="960120"/>
          </a:xfrm>
          <a:prstGeom prst="roundRect">
            <a:avLst>
              <a:gd name="adj" fmla="val 5714"/>
            </a:avLst>
          </a:prstGeom>
          <a:solidFill>
            <a:srgbClr val="FCFDFE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4178808"/>
            <a:ext cx="43068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5C8B"/>
                </a:solidFill>
              </a:rPr>
              <a:t>源码路径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64808" y="4379976"/>
            <a:ext cx="430682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memories/textual/general.py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vec_dbs/qdrant.py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064240" y="3474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7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5C8B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5C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TREE 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85216"/>
            <a:ext cx="10241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`tree_text`：图结构 + 混合检索，是 MemOS 的差异化核心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这一支不是简单向量召回，而是图存储、BM25、重排、互联网检索和 memory type 分层的组合。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609344"/>
            <a:ext cx="3337560" cy="452628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5C8B"/>
                </a:solidFill>
              </a:rPr>
              <a:t>存储层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08483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默认走 GraphStore：Neo4j / Neo4j Community / PolarDB / Postgres。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可同时持有 embedding、metadata、边关系。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MemoryManager 管 working / long-term / user memory 容量与重组。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4187952" y="1609344"/>
            <a:ext cx="3429000" cy="4526280"/>
          </a:xfrm>
          <a:prstGeom prst="roundRect">
            <a:avLst>
              <a:gd name="adj" fmla="val 1600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7408" y="18288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7D57"/>
                </a:solidFill>
              </a:rPr>
              <a:t>检索层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34840" y="2084832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Searcher 统一调度 graph search、embedding、BM25、reranker。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可选 `memory_type=WorkingMemory/LongTermMemory/UserMemory/All`。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可带 `search_filter`，例如按 `session_id` 过滤。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7818120" y="1609344"/>
            <a:ext cx="3703320" cy="45262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82880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6B1D"/>
                </a:solidFill>
              </a:rPr>
              <a:t>扩展能力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65008" y="2084832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可选互联网检索。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可选 skill memory / tool memory / preference memory 融合。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可返回相关子图 `get_relevant_subgraph()`。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8065008" y="4069080"/>
            <a:ext cx="2834640" cy="960120"/>
          </a:xfrm>
          <a:prstGeom prst="roundRect">
            <a:avLst>
              <a:gd name="adj" fmla="val 5714"/>
            </a:avLst>
          </a:prstGeom>
          <a:solidFill>
            <a:srgbClr val="FCFDFE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74736" y="4178808"/>
            <a:ext cx="2615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5C8B"/>
                </a:solidFill>
              </a:rPr>
              <a:t>关键文件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74736" y="4379976"/>
            <a:ext cx="26151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memories/textual/tree.py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graph_dbs/*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retrieve/advanced_searcher.py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064240" y="3474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7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5C8B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5C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CHAT PATH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85216"/>
            <a:ext cx="10241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`chat()` 的主路径：检索后拼 prompt，再生成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这是典型 memory-augmented generation，但 MemOS 把 user/cube/session 边界一起纳入了。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13232" y="1664208"/>
            <a:ext cx="1069848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011680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D8EAF6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89404"/>
            <a:ext cx="3840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033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08760" y="2029968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取当前 user 可访问的 cube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" y="2679192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D8EAF6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56916"/>
            <a:ext cx="3840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033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08760" y="2697480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对每个 cube 的 `text_mem.search()` 做检索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0120" y="3346704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D8EAF6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424428"/>
            <a:ext cx="3840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033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08760" y="3364992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把 memories 拼到 system prompt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0120" y="4014216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DDEFE4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091940"/>
            <a:ext cx="3840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033"/>
                </a:solidFill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08760" y="4032504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再调用 chat LLM 生成回答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60120" y="4681728"/>
            <a:ext cx="384048" cy="292608"/>
          </a:xfrm>
          <a:prstGeom prst="roundRect">
            <a:avLst>
              <a:gd name="adj" fmla="val 18750"/>
            </a:avLst>
          </a:prstGeom>
          <a:solidFill>
            <a:srgbClr val="DDEFE4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759452"/>
            <a:ext cx="3840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033"/>
                </a:solidFill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08760" y="4700016"/>
            <a:ext cx="6583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最后把 query / answer 反向提交给 scheduler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83880" y="1965960"/>
            <a:ext cx="2651760" cy="2514600"/>
          </a:xfrm>
          <a:prstGeom prst="roundRect">
            <a:avLst>
              <a:gd name="adj" fmla="val 2182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94192" y="214884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4E9C"/>
                </a:solidFill>
              </a:rPr>
              <a:t>额外增强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94192" y="2468880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`PRO_MODE` 会先做 CoT query decomposition。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复杂问题会拆 sub-questions 再检索与综合。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不是所有问题都强制走这个路径。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64240" y="3474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7"/>
                </a:solidFill>
              </a:rPr>
              <a:t>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677"/>
                </a:solidFill>
              </a:rPr>
              <a:t>这说明 MemOS 不只做“存与搜”，还试图把 retrieval strategy 纳入回答链路。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5C8B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5C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STORAGE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85216"/>
            <a:ext cx="10241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数据保存在哪里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它没有单一存储，而是按对象类型分层：用户与 cube、向量记忆、图记忆、偏好记忆、KV cache。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600200"/>
            <a:ext cx="274320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600200"/>
            <a:ext cx="2743200" cy="100584"/>
          </a:xfrm>
          <a:prstGeom prst="rect">
            <a:avLst/>
          </a:prstGeom>
          <a:solidFill>
            <a:srgbClr val="195C8B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46504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用户 / 权限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" y="205740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D8EAF6"/>
          </a:solidFill>
          <a:ln w="12700">
            <a:solidFill>
              <a:srgbClr val="D8EAF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125980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5C8B"/>
                </a:solidFill>
              </a:rPr>
              <a:t>重点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04672" y="2404872"/>
            <a:ext cx="2450592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 `UserManager` 用 SQLite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文件：`MEMOS_DIR/memos_users.db`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保存 user、cube、user-cube association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11880" y="1600200"/>
            <a:ext cx="274320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1600200"/>
            <a:ext cx="2743200" cy="100584"/>
          </a:xfrm>
          <a:prstGeom prst="rect">
            <a:avLst/>
          </a:prstGeom>
          <a:solidFill>
            <a:srgbClr val="2F7D57"/>
          </a:solidFill>
          <a:ln w="12700">
            <a:solidFill>
              <a:srgbClr val="2F7D5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1746504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`general_text`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58184" y="205740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DDEFE4"/>
          </a:solidFill>
          <a:ln w="12700">
            <a:solidFill>
              <a:srgbClr val="DDEFE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13048" y="2125980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D57"/>
                </a:solidFill>
              </a:rPr>
              <a:t>重点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758184" y="2404872"/>
            <a:ext cx="2450592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Qdrant 或 Milvus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每条记录存 `id + vector + payload`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无远程配置时可退到本地 embedded Qdrant path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65392" y="1600200"/>
            <a:ext cx="2423160" cy="452628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1600200"/>
            <a:ext cx="2423160" cy="100584"/>
          </a:xfrm>
          <a:prstGeom prst="rect">
            <a:avLst/>
          </a:prstGeom>
          <a:solidFill>
            <a:srgbClr val="B86B1D"/>
          </a:solidFill>
          <a:ln w="12700">
            <a:solidFill>
              <a:srgbClr val="B86B1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11696" y="1746504"/>
            <a:ext cx="2130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`tree_text`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11696" y="205740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F8E7D3"/>
          </a:solidFill>
          <a:ln w="12700">
            <a:solidFill>
              <a:srgbClr val="F8E7D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125980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6B1D"/>
                </a:solidFill>
              </a:rPr>
              <a:t>重点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11696" y="2404872"/>
            <a:ext cx="2130552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Neo4j / Postgres / PolarDB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图节点、边、properties、可带 embedding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89720" y="1600200"/>
            <a:ext cx="2331720" cy="45262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89720" y="1600200"/>
            <a:ext cx="2331720" cy="100584"/>
          </a:xfrm>
          <a:prstGeom prst="rect">
            <a:avLst/>
          </a:prstGeom>
          <a:solidFill>
            <a:srgbClr val="5A4E9C"/>
          </a:solidFill>
          <a:ln w="12700">
            <a:solidFill>
              <a:srgbClr val="5A4E9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36024" y="1746504"/>
            <a:ext cx="2039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其他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336024" y="205740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E4E0F6"/>
          </a:solidFill>
          <a:ln w="12700">
            <a:solidFill>
              <a:srgbClr val="E4E0F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90888" y="2125980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4E9C"/>
                </a:solidFill>
              </a:rPr>
              <a:t>重点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336024" y="2404872"/>
            <a:ext cx="2039112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`act_mem` 典型是 pickle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`para_mem` 典型是 LoRA adapter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064240" y="3474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7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5C8B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5C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 MODES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85216"/>
            <a:ext cx="10241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它怎么运行：Cloud、SDK、自托管 API 都有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README 和代码里能看到 3 条主路径。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3520440" cy="438912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645920"/>
            <a:ext cx="3520440" cy="100584"/>
          </a:xfrm>
          <a:prstGeom prst="rect">
            <a:avLst/>
          </a:prstGeom>
          <a:solidFill>
            <a:srgbClr val="195C8B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92224"/>
            <a:ext cx="3227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Cloud API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" y="210312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D8EAF6"/>
          </a:solidFill>
          <a:ln w="12700">
            <a:solidFill>
              <a:srgbClr val="D8EAF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171700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5C8B"/>
                </a:solidFill>
              </a:rPr>
              <a:t>重点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04672" y="2450592"/>
            <a:ext cx="322783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官方托管服务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客户端是 `MemOSClient`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 key + base_url 即可调用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70832" y="1645920"/>
            <a:ext cx="3520440" cy="438912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1645920"/>
            <a:ext cx="3520440" cy="100584"/>
          </a:xfrm>
          <a:prstGeom prst="rect">
            <a:avLst/>
          </a:prstGeom>
          <a:solidFill>
            <a:srgbClr val="2F7D57"/>
          </a:solidFill>
          <a:ln w="12700">
            <a:solidFill>
              <a:srgbClr val="2F7D5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136" y="1792224"/>
            <a:ext cx="32278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Python SDK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17136" y="210312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DDEFE4"/>
          </a:solidFill>
          <a:ln w="12700">
            <a:solidFill>
              <a:srgbClr val="DDEFE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171700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D57"/>
                </a:solidFill>
              </a:rPr>
              <a:t>重点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17136" y="2450592"/>
            <a:ext cx="322783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`MOS.simple()` 自动从环境变量组装默认配置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或手工构建 `MOSConfig` + `GeneralMemCube`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适合本地 agent / app 直接嵌入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83296" y="1645920"/>
            <a:ext cx="3429000" cy="438912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83296" y="1645920"/>
            <a:ext cx="3429000" cy="100584"/>
          </a:xfrm>
          <a:prstGeom prst="rect">
            <a:avLst/>
          </a:prstGeom>
          <a:solidFill>
            <a:srgbClr val="B86B1D"/>
          </a:solidFill>
          <a:ln w="12700">
            <a:solidFill>
              <a:srgbClr val="B86B1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1792224"/>
            <a:ext cx="3136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Self-hosted API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0" y="2103120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F8E7D3"/>
          </a:solidFill>
          <a:ln w="12700">
            <a:solidFill>
              <a:srgbClr val="F8E7D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4464" y="2171700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6B1D"/>
                </a:solidFill>
              </a:rPr>
              <a:t>重点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29600" y="2450592"/>
            <a:ext cx="313639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Docker Compose：默认 `8000`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Uvicorn CLI 示例：默认 `8001`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FastAPI 入口：`memos.api.server_api:app`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064240" y="3474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7"/>
                </a:solidFill>
              </a:rPr>
              <a:t>11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C6677"/>
                </a:solidFill>
              </a:rPr>
              <a:t>一个细节：README 中 Docker 暴露 8000，而直接 uvicorn 示例用 8001。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5C8B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5C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SELF-HOSTED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85216"/>
            <a:ext cx="10241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自托管依赖关系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 docker-compose 默认用 `MemOS API + Neo4j + Qdrant`。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700784"/>
            <a:ext cx="10561320" cy="4315968"/>
          </a:xfrm>
          <a:prstGeom prst="roundRect">
            <a:avLst>
              <a:gd name="adj" fmla="val 127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240280"/>
            <a:ext cx="2377440" cy="1234440"/>
          </a:xfrm>
          <a:prstGeom prst="roundRect">
            <a:avLst>
              <a:gd name="adj" fmla="val 4444"/>
            </a:avLst>
          </a:prstGeom>
          <a:solidFill>
            <a:srgbClr val="D8EAF6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40487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memos-api-docker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697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677"/>
                </a:solidFill>
              </a:rPr>
              <a:t>FastAPI 服务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677"/>
                </a:solidFill>
              </a:rPr>
              <a:t>暴露 8000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677"/>
                </a:solidFill>
              </a:rPr>
              <a:t>依赖 .env 与 src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92040" y="2240280"/>
            <a:ext cx="2057400" cy="1234440"/>
          </a:xfrm>
          <a:prstGeom prst="roundRect">
            <a:avLst>
              <a:gd name="adj" fmla="val 4444"/>
            </a:avLst>
          </a:prstGeom>
          <a:solidFill>
            <a:srgbClr val="DDEFE4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2404872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neo4j-docker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26974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677"/>
                </a:solidFill>
              </a:rPr>
              <a:t>图数据库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677"/>
                </a:solidFill>
              </a:rPr>
              <a:t>7474 / 7687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83880" y="2240280"/>
            <a:ext cx="2057400" cy="1234440"/>
          </a:xfrm>
          <a:prstGeom prst="roundRect">
            <a:avLst>
              <a:gd name="adj" fmla="val 4444"/>
            </a:avLst>
          </a:prstGeom>
          <a:solidFill>
            <a:srgbClr val="F8E7D3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404872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3"/>
                </a:solidFill>
              </a:rPr>
              <a:t>qdrant-docker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26974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677"/>
                </a:solidFill>
              </a:rPr>
              <a:t>向量数据库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6677"/>
                </a:solidFill>
              </a:rPr>
              <a:t>6333 / 6334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94760" y="2670048"/>
            <a:ext cx="329184" cy="292608"/>
          </a:xfrm>
          <a:prstGeom prst="chevron">
            <a:avLst/>
          </a:prstGeom>
          <a:solidFill>
            <a:srgbClr val="D6DEE8"/>
          </a:solidFill>
          <a:ln w="12700">
            <a:solidFill>
              <a:srgbClr val="D6DEE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2670048"/>
            <a:ext cx="329184" cy="292608"/>
          </a:xfrm>
          <a:prstGeom prst="chevron">
            <a:avLst/>
          </a:prstGeom>
          <a:solidFill>
            <a:srgbClr val="D6DEE8"/>
          </a:solidFill>
          <a:ln w="12700">
            <a:solidFill>
              <a:srgbClr val="D6DEE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1605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 `.env.example` 中还能切换：`MOS_TEXT_MEM_TYPE=general_text | tree_text`。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图后端也可换成 `neo4j-community / polardb / postgres`。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偏好记忆、互联网检索、scheduler 都是额外开关，不是强制开启。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11064240" y="3474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7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5C8B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5C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 &amp; MCP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85216"/>
            <a:ext cx="10241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对外接口：REST API、客户端 SDK、MCP 都有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这使它既能作为 agent 内部库，也能作为独立 memory service。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76656" y="1609344"/>
            <a:ext cx="3657600" cy="4526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82880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5C8B"/>
                </a:solidFill>
              </a:rPr>
              <a:t>SDK / Client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`MemOSClient.add_message()`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`MemOSClient.search_memory()`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`MemOSClient.get_memory()`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 hosted API 调用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526280" y="1609344"/>
            <a:ext cx="3657600" cy="4526280"/>
          </a:xfrm>
          <a:prstGeom prst="roundRect">
            <a:avLst>
              <a:gd name="adj" fmla="val 1500"/>
            </a:avLst>
          </a:prstGeom>
          <a:solidFill>
            <a:srgbClr val="EEF3F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82880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7D57"/>
                </a:solidFill>
              </a:rPr>
              <a:t>REST API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`/product/search`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`/product/add`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`/product/chat/complete`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`/product/chat/stream`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375904" y="1609344"/>
            <a:ext cx="3154680" cy="45262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182880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6B1D"/>
                </a:solidFill>
              </a:rPr>
              <a:t>MCP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13648" y="210312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`search_memories`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`add_memory`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`get_memory`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`update_memory`</a:t>
            </a:r>
            <a:endParaRPr lang="en-US" sz="1040" dirty="0"/>
          </a:p>
          <a:p>
            <a:pPr marL="152400" indent="-152400">
              <a:buSzPct val="100000"/>
              <a:buChar char="•"/>
            </a:pPr>
            <a:r>
              <a:rPr lang="en-US" sz="104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直接把 MOSCore 能力暴露给 agent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11064240" y="3474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7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5C8B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5C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85216"/>
            <a:ext cx="10241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设计优点与代价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从工程视角看，MemOS 的价值在于统一编排；代价在于复杂度和依赖面明显更大。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609344"/>
            <a:ext cx="52578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609344"/>
            <a:ext cx="5257800" cy="100584"/>
          </a:xfrm>
          <a:prstGeom prst="rect">
            <a:avLst/>
          </a:prstGeom>
          <a:solidFill>
            <a:srgbClr val="2F7D57"/>
          </a:solidFill>
          <a:ln w="12700">
            <a:solidFill>
              <a:srgbClr val="2F7D5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55648"/>
            <a:ext cx="4965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优点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" y="2066544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DDEFE4"/>
          </a:solidFill>
          <a:ln w="12700">
            <a:solidFill>
              <a:srgbClr val="DDEFE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135124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7D57"/>
                </a:solidFill>
              </a:rPr>
              <a:t>重点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04672" y="2414016"/>
            <a:ext cx="4965192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memory 抽象完整：用户、session、cube、memory type 都是一等概念。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既可轻量用 `general_text`，也可重型上 `tree_text`。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多模态、偏好、工具记忆、异步 scheduler 都已有挂点。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对“多 agent / 多项目 / 多租户”场景友好。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44768" y="1609344"/>
            <a:ext cx="53949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44768" y="1609344"/>
            <a:ext cx="5394960" cy="100584"/>
          </a:xfrm>
          <a:prstGeom prst="rect">
            <a:avLst/>
          </a:prstGeom>
          <a:solidFill>
            <a:srgbClr val="B94B57"/>
          </a:solidFill>
          <a:ln w="12700">
            <a:solidFill>
              <a:srgbClr val="B94B5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1755648"/>
            <a:ext cx="5102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33"/>
                </a:solidFill>
              </a:rPr>
              <a:t>代价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91072" y="2066544"/>
            <a:ext cx="841248" cy="274320"/>
          </a:xfrm>
          <a:prstGeom prst="roundRect">
            <a:avLst>
              <a:gd name="adj" fmla="val 16667"/>
            </a:avLst>
          </a:prstGeom>
          <a:solidFill>
            <a:srgbClr val="F8DDE2"/>
          </a:solidFill>
          <a:ln w="12700">
            <a:solidFill>
              <a:srgbClr val="F8DDE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2135124"/>
            <a:ext cx="7315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4B57"/>
                </a:solidFill>
              </a:rPr>
              <a:t>重点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91072" y="2414016"/>
            <a:ext cx="5102352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组件很多：LLM、embedder、vec db、graph db、scheduler、user manager。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配置面和部署面都比普通 memory 库重。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 backend 行为差异大，排障需要理解底层实现。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如果需求只是简单语义记忆，可能会显得过重。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064240" y="3474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7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5C8B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5C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85216"/>
            <a:ext cx="10241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这次实际读到的关键源码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下面这些文件基本覆盖了设计、运行、存储、检索和对外接口。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572768"/>
            <a:ext cx="3520440" cy="4526280"/>
          </a:xfrm>
          <a:prstGeom prst="roundRect">
            <a:avLst>
              <a:gd name="adj" fmla="val 1558"/>
            </a:avLst>
          </a:prstGeom>
          <a:solidFill>
            <a:srgbClr val="FCFDFE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82496"/>
            <a:ext cx="33009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5C8B"/>
                </a:solidFill>
              </a:rPr>
              <a:t>OS / Cube / Config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95528" y="1883664"/>
            <a:ext cx="33009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src/memos/mem_os/core.py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src/memos/mem_os/main.py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src/memos/mem_cube/general.py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src/memos/configs/mem_os.py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src/memos/configs/mem_cube.py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src/memos/configs/memory.py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4334256" y="1572768"/>
            <a:ext cx="3520440" cy="4526280"/>
          </a:xfrm>
          <a:prstGeom prst="roundRect">
            <a:avLst>
              <a:gd name="adj" fmla="val 1558"/>
            </a:avLst>
          </a:prstGeom>
          <a:solidFill>
            <a:srgbClr val="FCFDFE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984" y="1682496"/>
            <a:ext cx="33009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5C8B"/>
                </a:solidFill>
              </a:rPr>
              <a:t>Memory / Storage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43984" y="1883664"/>
            <a:ext cx="33009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src/memos/memories/textual/general.py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src/memos/memories/textual/tree.py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src/memos/vec_dbs/qdrant.py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src/memos/graph_dbs/neo4j.py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src/memos/graph_dbs/postgres.py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src/memos/mem_user/user_manager.py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7982712" y="1572768"/>
            <a:ext cx="3520440" cy="4526280"/>
          </a:xfrm>
          <a:prstGeom prst="roundRect">
            <a:avLst>
              <a:gd name="adj" fmla="val 1558"/>
            </a:avLst>
          </a:prstGeom>
          <a:solidFill>
            <a:srgbClr val="FCFDFE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682496"/>
            <a:ext cx="33009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5C8B"/>
                </a:solidFill>
              </a:rPr>
              <a:t>API / Deploy / Client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92440" y="1883664"/>
            <a:ext cx="3300984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README.md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docker/docker-compose.yml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docker/.env.example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src/memos/api/server_api.py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src/memos/api/routers/server_router.py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src/memos/api/client.py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020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src/memos/api/mcp_serve.py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1064240" y="3474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7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5C8B"/>
          </a:solidFill>
          <a:ln w="12700">
            <a:solidFill>
              <a:srgbClr val="195C8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4747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5C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85216"/>
            <a:ext cx="10241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公开来源附录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115568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用于这次调研的主来源。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76656" y="1609344"/>
            <a:ext cx="109728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1. GitHub 仓库: https://github.com/MemTensor/MemOS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2. README: https://github.com/MemTensor/MemOS/blob/main/README.md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3. 文档入口: https://memos-docs.openmem.net/home/overview/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4. 论文: https://arxiv.org/abs/2507.03724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5. Cloud / Dashboard: https://memos.openmem.net/ , https://memos-dashboard.openmem.net/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</a:rPr>
              <a:t>6. 本地源码快照时间: 2026-04-09 15:19:27 +0800, commit 45f4c1be96480c69513efb9fcae59f6c3e9c8deb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7"/>
                </a:solidFill>
              </a:rPr>
              <a:t>备注：本 deck 重点用了 README、核心代码路径、配置样例、Docker Compose、自托管 API 入口和客户端 SDK。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800600"/>
            <a:ext cx="10149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5C8B"/>
                </a:solidFill>
              </a:rPr>
              <a:t>结束语：如果把 MemOS 当成 agent memory 看，最准确的理解是“统一 memory runtime / operating layer”，而不是单一检索库。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64240" y="3474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7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MemOS 深度调研：设计、存储、检索与运行</dc:title>
  <dc:subject>MemOS codebase deep dive</dc:subject>
  <dc:creator>OpenAI Codex</dc:creator>
  <cp:lastModifiedBy>OpenAI Codex</cp:lastModifiedBy>
  <cp:revision>1</cp:revision>
  <dcterms:created xsi:type="dcterms:W3CDTF">2026-04-09T16:10:16Z</dcterms:created>
  <dcterms:modified xsi:type="dcterms:W3CDTF">2026-04-09T16:10:16Z</dcterms:modified>
</cp:coreProperties>
</file>