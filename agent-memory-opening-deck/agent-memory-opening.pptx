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20624"/>
            <a:ext cx="1664208" cy="310896"/>
          </a:xfrm>
          <a:prstGeom prst="roundRect">
            <a:avLst>
              <a:gd name="adj" fmla="val 14706"/>
            </a:avLst>
          </a:prstGeom>
          <a:solidFill>
            <a:srgbClr val="D8EEF0"/>
          </a:solidFill>
          <a:ln w="12700">
            <a:solidFill>
              <a:srgbClr val="D8EE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02920"/>
            <a:ext cx="1444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E89"/>
                </a:solidFill>
              </a:rPr>
              <a:t>INTERNAL SHARE OPENING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</a:rPr>
              <a:t>Agent Memory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</a:rPr>
              <a:t>从记忆机制到 Memory 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它已经不只是“把聊天历史存下来”。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它正演化为让 agent 能持续存在、持续学习、持续装配上下文的一层基础设施。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005072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F5E7C9"/>
          </a:solidFill>
          <a:ln w="12700">
            <a:solidFill>
              <a:srgbClr val="F5E7C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4087368"/>
            <a:ext cx="7680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记忆机制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4005072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DCEBDD"/>
          </a:solidFill>
          <a:ln w="12700">
            <a:solidFill>
              <a:srgbClr val="DCEBD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4087368"/>
            <a:ext cx="76809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A57"/>
                </a:solidFill>
              </a:rPr>
              <a:t>长期记忆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16352" y="4005072"/>
            <a:ext cx="1243584" cy="310896"/>
          </a:xfrm>
          <a:prstGeom prst="roundRect">
            <a:avLst>
              <a:gd name="adj" fmla="val 14706"/>
            </a:avLst>
          </a:prstGeom>
          <a:solidFill>
            <a:srgbClr val="F7DDD7"/>
          </a:solidFill>
          <a:ln w="12700">
            <a:solidFill>
              <a:srgbClr val="F7DDD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4087368"/>
            <a:ext cx="10241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5D4B"/>
                </a:solidFill>
              </a:rPr>
              <a:t>状态化 Agent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87952" y="4005072"/>
            <a:ext cx="1152144" cy="310896"/>
          </a:xfrm>
          <a:prstGeom prst="roundRect">
            <a:avLst>
              <a:gd name="adj" fmla="val 14706"/>
            </a:avLst>
          </a:prstGeom>
          <a:solidFill>
            <a:srgbClr val="D8EEF0"/>
          </a:solidFill>
          <a:ln w="12700">
            <a:solidFill>
              <a:srgbClr val="D8EEF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087368"/>
            <a:ext cx="93268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E89"/>
                </a:solidFill>
              </a:rPr>
              <a:t>Profile Graph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9824" y="400507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DDE7F8"/>
          </a:solidFill>
          <a:ln w="12700">
            <a:solidFill>
              <a:srgbClr val="DDE7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4087368"/>
            <a:ext cx="1197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Memory API / 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452628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417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今天这段开场想让大家记住的不是所有项目名，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而是 3 件事：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60336" y="241401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3317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Agent memory 经历了几次定义变化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0336" y="296265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8803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不同项目解决的是不同层的问题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0336" y="351129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4290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今天它正在变成独立基础设施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讲法提示：先把主命题抛出来：memory 不再是附件，而是在变成 agent 的基础设施层。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Memory 的 5 个阶段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重点不是项目越来越多，而是“memory 的定义”在不断变化。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2157984" cy="3383280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  <a:effectLst>
            <a:outerShdw sx="100000" sy="100000" kx="0" ky="0" algn="bl" rotWithShape="0" blurRad="12700" dist="50800" dir="2700000">
              <a:srgbClr val="D9D0C2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20240"/>
            <a:ext cx="2157984" cy="10972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2023 上半年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启蒙期：记忆机制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944368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86207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Generative Agents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255264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7296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Reflexion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48386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Auto-GPT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87705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794760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关键词：retrieval / reflection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62656" y="1920240"/>
            <a:ext cx="2157984" cy="3383280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  <a:effectLst>
            <a:outerShdw sx="100000" sy="100000" kx="0" ky="0" algn="bl" rotWithShape="0" blurRad="12700" dist="50800" dir="2700000">
              <a:srgbClr val="D9D0C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62656" y="1920240"/>
            <a:ext cx="2157984" cy="109728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7A57"/>
                </a:solidFill>
              </a:rPr>
              <a:t>2023 下半年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27248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框架内 Memory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27248" y="2944368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286207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LangChain Memory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27248" y="3255264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317296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LlamaIndex Memory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27248" y="3566160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48386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关键词：history / summary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66944" y="1920240"/>
            <a:ext cx="2157984" cy="3383280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  <a:effectLst>
            <a:outerShdw sx="100000" sy="100000" kx="0" ky="0" algn="bl" rotWithShape="0" blurRad="12700" dist="50800" dir="2700000">
              <a:srgbClr val="D9D0C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6944" y="1920240"/>
            <a:ext cx="2157984" cy="109728"/>
          </a:xfrm>
          <a:prstGeom prst="rect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5D4B"/>
                </a:solidFill>
              </a:rPr>
              <a:t>2024 上半年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31536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长期记忆成形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31536" y="2944368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86207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Zep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31536" y="3255264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17296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MemoryBank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31536" y="3566160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48386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MemGPT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31536" y="387705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794760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关键词：persistent / long-term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71232" y="1920240"/>
            <a:ext cx="2157984" cy="3383280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  <a:effectLst>
            <a:outerShdw sx="100000" sy="100000" kx="0" ky="0" algn="bl" rotWithShape="0" blurRad="12700" dist="50800" dir="2700000">
              <a:srgbClr val="D9D0C2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71232" y="1920240"/>
            <a:ext cx="2157984" cy="109728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35824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7E89"/>
                </a:solidFill>
              </a:rPr>
              <a:t>2024 下半年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项目爆发期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735824" y="2944368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128" y="286207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Graphiti 2024-08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35824" y="3255264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317296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Mem0 2024-09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35824" y="3566160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82128" y="348386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Letta 2024-09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735824" y="3877056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82128" y="3794760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关键词：graph / layer / state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875520" y="1920240"/>
            <a:ext cx="1664208" cy="3383280"/>
          </a:xfrm>
          <a:prstGeom prst="roundRect">
            <a:avLst>
              <a:gd name="adj" fmla="val 3297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  <a:effectLst>
            <a:outerShdw sx="100000" sy="100000" kx="0" ky="0" algn="bl" rotWithShape="0" blurRad="12700" dist="50800" dir="2700000">
              <a:srgbClr val="D9D0C2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875520" y="1920240"/>
            <a:ext cx="1664208" cy="10972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40112" y="210312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324F"/>
                </a:solidFill>
              </a:rPr>
              <a:t>2025 - 现在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40112" y="2359152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平台化扩展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0040112" y="2944368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86416" y="286207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Supermemory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040112" y="3255264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86416" y="3172968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API / MCP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0040112" y="3566160"/>
            <a:ext cx="73152" cy="7315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86416" y="3483864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关键词：context infra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讲法提示：讲这页时按“定义变化”走；到 2024 下半年以后，再切到下一页按具体项目讲。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RECENT CORE PROJECTS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 后期到 2026-04-09：按主流核心项目看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后面展开时，建议就沿着这 4 个项目讲：Graphiti、Mem0、Letta、Supermemory。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6596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FFFDF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30552"/>
            <a:ext cx="2276856" cy="310896"/>
          </a:xfrm>
          <a:prstGeom prst="roundRect">
            <a:avLst>
              <a:gd name="adj" fmla="val 17647"/>
            </a:avLst>
          </a:prstGeom>
          <a:solidFill>
            <a:srgbClr val="F5E7C9"/>
          </a:solidFill>
          <a:ln w="12700">
            <a:solidFill>
              <a:srgbClr val="F5E7C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221992"/>
            <a:ext cx="2167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2024 下半年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260604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Graphiti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Zep 开源 temporal knowledge graph，图谱型 memory 开始成主线。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96596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FFFDF9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2130552"/>
            <a:ext cx="2276856" cy="310896"/>
          </a:xfrm>
          <a:prstGeom prst="roundRect">
            <a:avLst>
              <a:gd name="adj" fmla="val 17647"/>
            </a:avLst>
          </a:prstGeom>
          <a:solidFill>
            <a:srgbClr val="DCEBDD"/>
          </a:solidFill>
          <a:ln w="12700">
            <a:solidFill>
              <a:srgbClr val="DCEBD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221992"/>
            <a:ext cx="2167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A57"/>
                </a:solidFill>
              </a:rPr>
              <a:t>2024-09-09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12464" y="260604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Mem0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0752" y="30175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把 AI memory layer 说得最直白，强调长期偏好与可复用基础设施。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196596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FFFDF9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2130552"/>
            <a:ext cx="2276856" cy="310896"/>
          </a:xfrm>
          <a:prstGeom prst="roundRect">
            <a:avLst>
              <a:gd name="adj" fmla="val 17647"/>
            </a:avLst>
          </a:prstGeom>
          <a:solidFill>
            <a:srgbClr val="F7DDD7"/>
          </a:solidFill>
          <a:ln w="12700">
            <a:solidFill>
              <a:srgbClr val="F7DDD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221992"/>
            <a:ext cx="2167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5D4B"/>
                </a:solidFill>
              </a:rPr>
              <a:t>2024-09-23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28816" y="260604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Letta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30175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从 MemGPT 走向生产平台，强调 stateful agents 与 memory management。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98864" y="1965960"/>
            <a:ext cx="2240280" cy="2240280"/>
          </a:xfrm>
          <a:prstGeom prst="roundRect">
            <a:avLst>
              <a:gd name="adj" fmla="val 2449"/>
            </a:avLst>
          </a:prstGeom>
          <a:solidFill>
            <a:srgbClr val="FFFDF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63456" y="2130552"/>
            <a:ext cx="1911096" cy="310896"/>
          </a:xfrm>
          <a:prstGeom prst="roundRect">
            <a:avLst>
              <a:gd name="adj" fmla="val 17647"/>
            </a:avLst>
          </a:prstGeom>
          <a:solidFill>
            <a:srgbClr val="D8EEF0"/>
          </a:solidFill>
          <a:ln w="12700">
            <a:solidFill>
              <a:srgbClr val="D8EE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2221992"/>
            <a:ext cx="1801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E89"/>
                </a:solidFill>
              </a:rPr>
              <a:t>2025 起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45168" y="2606040"/>
            <a:ext cx="1947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Supermemory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017520"/>
            <a:ext cx="1911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把 memory API 推向 context infrastructure：profile、graph、retrieval、connectors 一起讲。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4892040"/>
            <a:ext cx="10012680" cy="0"/>
          </a:xfrm>
          <a:prstGeom prst="line">
            <a:avLst/>
          </a:prstGeom>
          <a:noFill/>
          <a:ln w="12700">
            <a:solidFill>
              <a:srgbClr val="D7CC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749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这 4 个项目基本对应 4 条后续主线：图谱型 memory、memory layer、stateful agent 平台、context infrastructure。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讲法提示：你可以直接把后半段目录接成 4 个项目：Graphiti、Mem0、Letta、Supermemory。这样 2024 后期到现在就不再是一整块。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CATEGORY 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为什么这些项目不能混着讲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同样都叫 memory，但它们在系统里的角色并不一样。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5740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框架内记忆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377440"/>
            <a:ext cx="18105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LangChain Memory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LlamaIndex Memory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9202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9544" y="205740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独立长期记忆库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9544" y="2377440"/>
            <a:ext cx="20391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Zep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Supermemory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92024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9864" y="2057400"/>
            <a:ext cx="2039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研究原型 / 方法论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9864" y="2377440"/>
            <a:ext cx="20391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Generative Agents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Reflexion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MemoryBank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920240"/>
            <a:ext cx="2240280" cy="1325880"/>
          </a:xfrm>
          <a:prstGeom prst="roundRect">
            <a:avLst>
              <a:gd name="adj" fmla="val 3448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057400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状态化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2377440"/>
            <a:ext cx="19476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MemGPT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Letta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LangGraph persistence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3749040"/>
            <a:ext cx="4389120" cy="1417320"/>
          </a:xfrm>
          <a:prstGeom prst="roundRect">
            <a:avLst>
              <a:gd name="adj" fmla="val 3226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3886200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图谱 / 系统级 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86784" y="4206240"/>
            <a:ext cx="409651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Graphiti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Memory OS 风格系统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Profile graph / memory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一句话记忆：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不是所有 memory 都在回答同一个问题。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68172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有的在解决上下文管理，有的在解决长期偏好，有的在解决 agent 状态持久化，还有的在尝试把 memory 做成系统层。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讲法提示：这一页的任务是帮听众“分堆”：后面提项目时，大家不会把 RAG 库、agent 状态和 memory service 混为一谈。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 PROJECTS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历史上最值得记住的 6 个代表项目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它们代表了 6 种不同的“问题定义方式”。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Generative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286000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把 memory stream、reflection、retrieval 这套范式讲明白了。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86784" y="18288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19659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LangChain Memory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3088" y="2286000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让“agent 应该有 memory”成为工程圈默认抽象。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19659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Zep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70064" y="2286000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很早把长期记忆做成独立服务，而不只是聊天记录存储。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" y="3730752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6791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MemGPT / Letta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4187952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把 memory 提升成状态管理问题，接近操作系统式视角。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86784" y="3730752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088" y="386791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Mem0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33088" y="4187952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把 memory layer 明确包装成可复用的基础设施能力。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3730752"/>
            <a:ext cx="2743200" cy="1417320"/>
          </a:xfrm>
          <a:prstGeom prst="roundRect">
            <a:avLst>
              <a:gd name="adj" fmla="val 3226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386791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Graphiti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0064" y="4187952"/>
            <a:ext cx="24505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把 temporal graph memory 带进主流讨论，强调关系与时间。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讲法提示：讲这页时别展开技术细节，只讲“它重新定义了什么”，帮助大家建立锚点。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CURRENT WAVE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今天这波 Agent Memory 真正变了什么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这也是为什么最近会出现 memory OS、profile graph、memory API 这一波。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391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F5E7C9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0552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17904" y="2029968"/>
            <a:ext cx="9765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从 chat history 变成 profile + experience + state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17904" y="2377440"/>
            <a:ext cx="9765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记忆对象不再只是对话文本，而是用户偏好、长期事实、行为轨迹、技能经验和 agent 当前状态。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182112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34670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F7DDD7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38144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5D4B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17904" y="3337560"/>
            <a:ext cx="9765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从 agent 附件变成独立基础设施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7904" y="3685032"/>
            <a:ext cx="9765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Memory 不再只是框架里的一个模块，而是在向 service、API、graph store、context assembly layer 演化。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4489704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12700">
            <a:solidFill>
              <a:srgbClr val="D7CC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65429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D8EEF0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45736"/>
            <a:ext cx="475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7E89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17904" y="4645152"/>
            <a:ext cx="9765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竞争焦点从“能不能存”变成“会不会提、会不会更、会不会装”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17904" y="4992624"/>
            <a:ext cx="9765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更关键的是抽取什么、什么时候更新、如何检索、如何做 relevance filtering，以及如何把上下文装配给 agent。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讲法提示：历史讲到这里要收束成判断：memory 的竞争点已经从存储层上移到了决策层和装配层。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CHEAT SHEET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一页记住今天这段开场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你可以把这页当成自己的讲稿索引。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2953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5 个阶段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286000"/>
            <a:ext cx="295351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1. 方法论启蒙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2. 框架内 memory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3. 长期记忆成形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4. memory layer / graph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5. context infra / API / 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65960"/>
            <a:ext cx="2953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5 类系统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295351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框架内记忆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独立长期记忆库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研究原型 / 方法论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状态化 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图谱 / 系统级 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11312" y="18288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965960"/>
            <a:ext cx="2953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4 个近期核心项目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2286000"/>
            <a:ext cx="2953512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Graphiti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Letta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Supermemory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一句话结论：Agent memory 的发展史，本质上是 agent 从“会对话”走向“会持续存在”的历史。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讲法提示：最后用这一句收尾，然后自然过渡到你后面要展开的产品、开源库或设计方法。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BENCHMARKS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Agent Memory 需要专门的 benchmark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只看“回答得像不像”不够，因为 memory system 的问题经常出在写入、更新、检索和冲突处理。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657600" cy="3566160"/>
          </a:xfrm>
          <a:prstGeom prst="roundRect">
            <a:avLst>
              <a:gd name="adj" fmla="val 1282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如果没有 benchmark，很容易把 3 类问题讲混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模型本体强不强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688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memory system 会不会写、会不会取、会不会更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914400" y="305409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809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prompt 拼接策略是否碰巧有效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14400" y="334670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供应商自己的评测口径是否可比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617720" y="1828800"/>
            <a:ext cx="2926080" cy="1664208"/>
          </a:xfrm>
          <a:prstGeom prst="roundRect">
            <a:avLst>
              <a:gd name="adj" fmla="val 2747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99339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真正要测什么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3957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长期记忆是否能跨 session 保持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782312" y="276148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6883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时间变化后是否会正确更新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782312" y="305409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9809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冲突信息出现时能否覆盖旧知识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782312" y="334670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273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是否会在不知道时拒答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617720" y="3730752"/>
            <a:ext cx="2926080" cy="1664208"/>
          </a:xfrm>
          <a:prstGeom prst="roundRect">
            <a:avLst>
              <a:gd name="adj" fmla="val 274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38953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不同 benchmark 的侧重点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82312" y="437083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LongMemEval: 长期聊天助手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4782312" y="466344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4590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LoCoMo: 时间线和叙事一致性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782312" y="495604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8828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PersonaMem: 个性化偏好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4782312" y="524865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517550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BEAM / LifeBench: 超长、多源、长期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772400" y="1828800"/>
            <a:ext cx="3657600" cy="3566160"/>
          </a:xfrm>
          <a:prstGeom prst="roundRect">
            <a:avLst>
              <a:gd name="adj" fmla="val 1282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18704" y="19933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讲 benchmark 时我建议你一直强调 3 个口径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36992" y="2468880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public leaderboard：第三方/公开榜单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7936992" y="2761488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008" y="2688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paper-reported：论文统一实验配置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936992" y="3054096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5008" y="29809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vendor-claimed：项目首页或 README 自报成绩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7936992" y="3346704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65008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5B6472"/>
                </a:solidFill>
              </a:rPr>
              <a:t>这三种数字不能直接混比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讲法提示：先把评估框架讲清楚，后面分析项目时听众才知道你是在比较 memory system，而不是比较模型。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DATASETS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我建议重点讲的 6 个 Agent Memory benchmark / 数据集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它们覆盖了长期对话、个性化、超长上下文、多源生活痕迹和增量式交互。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LongMemEval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500 questions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914400" y="272491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651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5 个核心能力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298094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077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最像长期聊天助手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913632" y="1828800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LoCoMo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78224" y="2468880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95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最长可到 32 sessions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078224" y="2724912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651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时间线 / 事件图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078224" y="2980944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9077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叙事一致性很强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77456" y="1828800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PersonaMem-v2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42048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2395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1,000 interactions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242048" y="272491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0064" y="2651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20,000+ user preferences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242048" y="2980944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29077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偏个性化与隐式偏好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49808" y="3858768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0233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BEAM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49884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4425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100K - 10M tokens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914400" y="4754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4681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2,000 validated questions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14400" y="501091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4937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专门拉长到极限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3913632" y="3858768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9936" y="40233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LifeBench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078224" y="4498848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4425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1 年多源数字痕迹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4078224" y="4754880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4681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declarative + non-declarative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4078224" y="5010912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4937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最接近 personal agent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7077456" y="3858768"/>
            <a:ext cx="2834640" cy="1700784"/>
          </a:xfrm>
          <a:prstGeom prst="roundRect">
            <a:avLst>
              <a:gd name="adj" fmla="val 2688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402336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MemoryAgentBench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242048" y="449884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0064" y="44256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增量式 multi-turn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7242048" y="4754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0064" y="46817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4 个 memory competencies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7242048" y="501091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4937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强调交互式积累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讲法提示：这页不要讲太细，目标是让大家先认识 benchmark 名字和它们大致各测什么。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BENCHMARK 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 benchmark 主要在测什么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最简单的记忆方法：横轴看数据来源，纵轴看考察的是“事实回忆”还是“行为 / 个性 / agentic memory”。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5303520"/>
            <a:ext cx="9692640" cy="0"/>
          </a:xfrm>
          <a:prstGeom prst="line">
            <a:avLst/>
          </a:prstGeom>
          <a:noFill/>
          <a:ln w="12700">
            <a:solidFill>
              <a:srgbClr val="D7CC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5303520"/>
            <a:ext cx="0" cy="-3017520"/>
          </a:xfrm>
          <a:prstGeom prst="line">
            <a:avLst/>
          </a:prstGeom>
          <a:noFill/>
          <a:ln w="12700">
            <a:solidFill>
              <a:srgbClr val="D7CC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4498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单一/对话型数据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81160" y="54498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多源/生活流数据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偏行为 / 个性 / agentic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9560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偏事实回忆 / 时序推理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20240" y="440740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5E7C9"/>
          </a:solidFill>
          <a:ln w="12700">
            <a:solidFill>
              <a:srgbClr val="F5E7C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4489704"/>
            <a:ext cx="9692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LongMemEval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3858768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DCEBDD"/>
          </a:solidFill>
          <a:ln w="12700">
            <a:solidFill>
              <a:srgbClr val="DCEB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3941064"/>
            <a:ext cx="7863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A57"/>
                </a:solidFill>
              </a:rPr>
              <a:t>LoCoMo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4187952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D8EEF0"/>
          </a:solidFill>
          <a:ln w="12700">
            <a:solidFill>
              <a:srgbClr val="D8EE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4270248"/>
            <a:ext cx="6035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E89"/>
                </a:solidFill>
              </a:rPr>
              <a:t>BEAM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32520" y="379476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DDE7F8"/>
          </a:solidFill>
          <a:ln w="12700">
            <a:solidFill>
              <a:srgbClr val="DDE7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3877056"/>
            <a:ext cx="87782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LifeBench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4920" y="28163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F7DDD7"/>
          </a:solidFill>
          <a:ln w="12700">
            <a:solidFill>
              <a:srgbClr val="F7DDD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898648"/>
            <a:ext cx="1197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5D4B"/>
                </a:solidFill>
              </a:rPr>
              <a:t>PersonaMem-v2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248716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F5E7C9"/>
          </a:solidFill>
          <a:ln w="12700">
            <a:solidFill>
              <a:srgbClr val="F5E7C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2569464"/>
            <a:ext cx="14264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MemoryAgentBench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325880" y="2057400"/>
            <a:ext cx="2834640" cy="1417320"/>
          </a:xfrm>
          <a:prstGeom prst="roundRect">
            <a:avLst>
              <a:gd name="adj" fmla="val 3226"/>
            </a:avLst>
          </a:prstGeom>
          <a:solidFill>
            <a:srgbClr val="FFFDF9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72184" y="22219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一句话理解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90472" y="2697480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8488" y="2624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LongMemEval / LoCoMo 是“长期对话 memory”主线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490472" y="2935224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18488" y="28620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PersonaMem-v2 是“个性化 / 用户画像”主线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490472" y="3172968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18488" y="30998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BEAM / LifeBench 把长度与现实性都拉高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1490472" y="3410712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18488" y="3337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MemoryAgentBench 更像“memory agent 综合测评”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讲法提示：讲完这页后，听众会明白为什么不同项目在不同 benchmark 上优势不同。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LEADERBOARDS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当前榜首怎么讲才不容易误导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我建议你把“当前最好”拆成公开榜、论文口径和项目自报口径。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657600" cy="3566160"/>
          </a:xfrm>
          <a:prstGeom prst="roundRect">
            <a:avLst>
              <a:gd name="adj" fmla="val 1282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公开榜单快照（2026-04-09）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LongMemEval S: Hindsight 94.6%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8529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LoCoMo 10: Hindsight 92.0%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PersonaMem 32K: Hindsight 86.6%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7673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BEAM 10M: Hindsight 64.1%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224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LifeBench EN: Hindsight 71.5%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617720" y="1828800"/>
            <a:ext cx="3017520" cy="1737360"/>
          </a:xfrm>
          <a:prstGeom prst="roundRect">
            <a:avLst>
              <a:gd name="adj" fmla="val 2632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199339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论文口径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82312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395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例如 LifeBench 论文里的统一实验里，顶尖系统也只有 55.2% 左右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782312" y="276148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688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不同 backbone、retriever、reranker 会明显影响绝对分数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617720" y="3767328"/>
            <a:ext cx="3017520" cy="1627632"/>
          </a:xfrm>
          <a:prstGeom prst="roundRect">
            <a:avLst>
              <a:gd name="adj" fmla="val 2809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393192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项目自报口径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82312" y="440740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MemOS README、MemPalace README、Supermemory 官网都给出各自最强口径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782312" y="469087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4617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这些数字可以讲，但要明确写明来源和条件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882128" y="1828800"/>
            <a:ext cx="3547872" cy="3566160"/>
          </a:xfrm>
          <a:prstGeom prst="roundRect">
            <a:avLst>
              <a:gd name="adj" fmla="val 1289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1993392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我建议你在台上这样说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46720" y="2468880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2395728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5B6472"/>
                </a:solidFill>
              </a:rPr>
              <a:t>截至 2026 年 4 月 9 日，公开可查的 AMB 聚合快照里，Hindsight 在已覆盖数据集上整体领先。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8046720" y="2889504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4736" y="2816352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5B6472"/>
                </a:solidFill>
              </a:rPr>
              <a:t>但这不等于 MemOS、Supermemory、MemPalace 就不能打。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8046720" y="3310128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236976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5B6472"/>
                </a:solidFill>
              </a:rPr>
              <a:t>因为不同系统擅长的 benchmark 不同，很多结果也依赖具体 harness 和集成方式。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讲法提示：这页的关键是让你显得严谨：不要把 vendor 自报成绩和公开榜单混成一句“第一名”。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MemOS：把 memory 直接上升成“操作系统”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如果你想讲一个最系统化、最像“memory substrate”的项目，MemOS 是很合适的入口。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794760" cy="3611880"/>
          </a:xfrm>
          <a:prstGeom prst="roundRect">
            <a:avLst>
              <a:gd name="adj" fmla="val 1266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它的核心叙事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Memory OS for AI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统一表示、检索、更新、调度 memory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5526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821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从聊天记忆扩展到 KB、tool memory、多模态、MCP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753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把 memory 视作一类长期管理资源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99339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为什么值得讲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9472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3957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它最像“系统论文 / 系统产品”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919472" y="275234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679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概念最完整，方便讲架构层次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919472" y="303580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9626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适合引出 memory scheduling / feedback / KB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93192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你可以怎么定义它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19472" y="440740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3342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不是单一 retrieval layer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919472" y="469087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61772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不是只做 user profile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919472" y="497433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49011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而是把 memory 当成 agent runtime 的一部分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065008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OS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93024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定位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25712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3728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MCP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253728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接口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186416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KB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14432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知识库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65008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MM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93024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多模态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25712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Tool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53728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工具记忆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186416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14432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FB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314432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反馈纠错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65008" y="4224528"/>
            <a:ext cx="3145536" cy="1225296"/>
          </a:xfrm>
          <a:prstGeom prst="roundRect">
            <a:avLst>
              <a:gd name="adj" fmla="val 3731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4389120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一句话评价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29600" y="479145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MemOS 更像“做 memory 平台”的方案，而不是“给聊天机器人加点记忆”。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讲法提示：介绍 MemOS 时，重点讲它为什么叫 OS：它不是存储插件，而是把 memory 提升成运行时层。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MEMOS DETAILS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MemOS 值得重点分析的角度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我建议你从使用方式、能力边界、工程复杂度、证据强度这 4 个角度讲。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使用方式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`pip install MemoryOS -U`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2549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`MemOSClient()` 初始化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8211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`add_message()` 写入会话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53872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`search_memory()` 检索记忆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89534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82219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也支持 self-host + MCP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74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项目特色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统一 Memory API / MAG 叙事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82549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知识库系统 + 文档/URL 解析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tool memory、feedback、精确删除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53872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多模态 memory，调度和 DB 优化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89534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82219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更像完整 memory stack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65008" y="1828800"/>
            <a:ext cx="3136392" cy="3611880"/>
          </a:xfrm>
          <a:prstGeom prst="roundRect">
            <a:avLst>
              <a:gd name="adj" fmla="val 1458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19933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优点与风险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0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2395728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优点：概念完整、能力广、适合企业型 memory infra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229600" y="281635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2743200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风险：系统面大，部署和治理复杂度高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229600" y="3163824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57616" y="3090672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风险：很多 benchmark 成绩来自项目 README 口径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8229600" y="351129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7616" y="3438144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适合：想把 memory 当平台能力建设的团队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讲法提示：这页你可以把 MemOS 讲成“最像正统系统方案”的代表，但也要提醒它的工程门槛更高。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SUPERMEMORY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Supermemory：把 memory 做成 context infrastructure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它和 MemOS 最大的区别是，它更像产品化的 context stack，而不是“memory OS 论文”风格。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794760" cy="3611880"/>
          </a:xfrm>
          <a:prstGeom prst="roundRect">
            <a:avLst>
              <a:gd name="adj" fmla="val 1266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它怎么定义自己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long-term + short-term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Memory API — learned user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5526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821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connectors / syncing / managed RAG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753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Memory Router：OpenAI-compatible transparent proxy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99339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为什么有吸引力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9472" y="2468880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3957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最容易被产品团队理解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919472" y="2752344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679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零改造/少改造接进现有 app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919472" y="3035808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9626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把 profiles、memory、RAG、router 一起讲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93192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你可以怎么概括它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19472" y="440740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3342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不是只卖 retrieval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919472" y="469087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61772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也不是只卖 user memory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919472" y="497433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49011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而是在卖“上下文工程平台”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065008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API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93024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Memory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25712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3728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RTR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253728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Router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186416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RAG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14432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Managed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65008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CTX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93024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Context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25712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PRO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53728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Profiles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186416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14432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CON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314432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Connectors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65008" y="4224528"/>
            <a:ext cx="3145536" cy="1225296"/>
          </a:xfrm>
          <a:prstGeom prst="roundRect">
            <a:avLst>
              <a:gd name="adj" fmla="val 3731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4389120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一句话评价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29600" y="479145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Supermemory 更像“memory-native context platform”。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讲法提示：讲 Supermemory 时，抓住一个词就够了：context infrastructure。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SUPERMEMORY DETAILS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Supermemory 值得重点分析的角度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最适合从接入方式、平台能力、商业形态、取舍关系去讲。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使用方式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Memory API：显式读写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2549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Memory Router：作为代理层接在模型前面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8211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可与 OpenAI-compatible client 集成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53872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同一 user_id 共享同一 memory pool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项目特色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drop-in 感最强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25496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把 connectors / extraction / RAG 都统一到一个上下文栈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82112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更偏平台产品，而不是纯研究系统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38728"/>
            <a:ext cx="64008" cy="64008"/>
          </a:xfrm>
          <a:prstGeom prst="ellipse">
            <a:avLst/>
          </a:prstGeom>
          <a:solidFill>
            <a:srgbClr val="3D7A57"/>
          </a:solidFill>
          <a:ln w="12700">
            <a:solidFill>
              <a:srgbClr val="3D7A5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很适合“先上线，再逐步深化”的路线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5008" y="1828800"/>
            <a:ext cx="3136392" cy="3611880"/>
          </a:xfrm>
          <a:prstGeom prst="roundRect">
            <a:avLst>
              <a:gd name="adj" fmla="val 1458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19933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优点与风险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2395728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优点：上手快、产品叙事清楚、适合 API-first 团队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229600" y="281635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2743200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风险：更依赖平台抽象，底层控制感相对弱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229600" y="3163824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3090672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风险：benchmark 成绩更多来自项目方/生态页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229600" y="351129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3438144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适合：想快速做 memory-enhanced app 的团队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讲法提示：把 Supermemory 讲成“最快落地的一体化 context 层”会很容易让全员场听懂。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MEMPALACE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MemPalace：把“什么都别丢”做到了极致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它最有辨识度的点不是 memory API，而是它的记忆哲学：先全存，再想办法找。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794760" cy="3611880"/>
          </a:xfrm>
          <a:prstGeom prst="roundRect">
            <a:avLst>
              <a:gd name="adj" fmla="val 1266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它的核心哲学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不让 AI 先替你决定什么重要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88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raw verbatim storage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55264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821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wings / halls / rooms 组织记忆空间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753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local-first、zero cloud、zero subscription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99339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为什么它会火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9472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3957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理念非常鲜明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919472" y="275234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6791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免费、开源、本地优先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919472" y="303580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9626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LongMemEval raw 96.6% 的话题性极强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3063240" cy="1682496"/>
          </a:xfrm>
          <a:prstGeom prst="roundRect">
            <a:avLst>
              <a:gd name="adj" fmla="val 2717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93192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你可以怎么定义它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19472" y="440740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3342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不是 memory OS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919472" y="469087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61772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不是 SaaS memory API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919472" y="497433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490118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而是 local-first verbatim memory system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065008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RAW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93024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Verbatim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25712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3728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LOC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253728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Local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186416" y="1828800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14432" y="19933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MCP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14432" y="234086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Tools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65008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96.6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93024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R@5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25712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$0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53728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Cloud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186416" y="2999232"/>
            <a:ext cx="1024128" cy="969264"/>
          </a:xfrm>
          <a:prstGeom prst="roundRect">
            <a:avLst>
              <a:gd name="adj" fmla="val 4717"/>
            </a:avLst>
          </a:prstGeom>
          <a:solidFill>
            <a:srgbClr val="DCEBDD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14432" y="316382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AAAK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314432" y="351129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</a:rPr>
              <a:t>Experimental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65008" y="4224528"/>
            <a:ext cx="3145536" cy="1225296"/>
          </a:xfrm>
          <a:prstGeom prst="roundRect">
            <a:avLst>
              <a:gd name="adj" fmla="val 3731"/>
            </a:avLst>
          </a:prstGeom>
          <a:solidFill>
            <a:srgbClr val="DDE7F8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1312" y="4389120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一句话评价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29600" y="4791456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MemPalace 是这三者里最“反 extraction、强本地”的方案。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讲法提示：讲 MemPalace 时，先讲哲学分歧：它不相信先抽取、后丢弃，而相信先保留原文。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MEMPALACE DETAILS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MemPalace 值得重点分析的角度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这个项目很适合讲“亮点很亮，但证据和成熟度都要谨慎看”。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使用方式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`pip install mempalace`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2549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`mempalace init` 初始化记忆空间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8211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支持本地索引和 MCP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53872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更像个人 agent / 本地助理的记忆底座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07408" y="1828800"/>
            <a:ext cx="3429000" cy="3611880"/>
          </a:xfrm>
          <a:prstGeom prst="roundRect">
            <a:avLst>
              <a:gd name="adj" fmla="val 1333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993392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项目特色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3957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原文保留，不做先验 extraction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82549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75234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ChromaDB + 本地数据 + 结构化房间/大厅组织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8211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1089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raw mode 96.6% LongMemEval R@5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3872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46557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README 自己公开修正了 AAAK 与若干表述问题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5008" y="1828800"/>
            <a:ext cx="3136392" cy="3611880"/>
          </a:xfrm>
          <a:prstGeom prst="roundRect">
            <a:avLst>
              <a:gd name="adj" fmla="val 1458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1993392"/>
            <a:ext cx="2843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优点与风险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2395728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优点：理念清楚、本地优先、可解释、个人场景很有吸引力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229600" y="281635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2743200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风险：项目非常新，成熟度和生态还在形成中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229600" y="316382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3090672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风险：100% hybrid 分数存在方法学争议，raw 96.6 更稳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229600" y="351129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3438144"/>
            <a:ext cx="2679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适合：本地私有 agent / 个人知识助手 / 实验型团队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讲法提示：这页一定要把 caveat 讲出来：MemPalace 很值得关注，但 2026 年 4 月它仍然非常新。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SIDE-BY-SIDE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MemOS、Supermemory、MemPalace 的横向比较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如果你只留一页做比较，我建议留这一页。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56432" cy="3611880"/>
          </a:xfrm>
          <a:prstGeom prst="roundRect">
            <a:avLst>
              <a:gd name="adj" fmla="val 1323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MemOS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定位：memory operating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5292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79776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形态：平台/框架 + API + MCP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3697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63824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优势：系统完整、memory 类型最全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47872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代价：复杂度高、运维面更大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00507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93192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更适合：想自建 memory infra 的团队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1828800"/>
            <a:ext cx="3456432" cy="3611880"/>
          </a:xfrm>
          <a:prstGeom prst="roundRect">
            <a:avLst>
              <a:gd name="adj" fmla="val 1323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1993392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Supermemory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35424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95728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定位：context infrastructure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35424" y="285292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79776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形态：Memory API + Router + Connectors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35424" y="323697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63824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优势：接入快、产品路径清楚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35424" y="3621024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47872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代价：平台化抽象更强，底层控制感弱一些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35424" y="400507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93192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更适合：要尽快上线 memory app 的团队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91856" y="1828800"/>
            <a:ext cx="3236976" cy="3611880"/>
          </a:xfrm>
          <a:prstGeom prst="roundRect">
            <a:avLst>
              <a:gd name="adj" fmla="val 1412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99339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MemPalace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56448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239572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定位：local-first verbatim memory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156448" y="285292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4464" y="277977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形态：本地记忆系统 + MCP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156448" y="323697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4464" y="3163824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优势：原文保留、私有、本地、低成本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8156448" y="3621024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3547872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代价：新、争议多、成熟度仍在上升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156448" y="400507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3931920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5B6472"/>
                </a:solidFill>
              </a:rPr>
              <a:t>更适合：个人 agent / 隐私敏感 / 实验型探索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讲法提示：这一页你只需要反复强调一句：三者不是简单强弱关系，而是三种非常不同的产品哲学。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 I’D CHOOSE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如果让我按场景选，我会怎么选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这页能帮你把前面的分析收束成决策建议。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5E7C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选 MemOS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你要的是可持续建设的 memory platform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71216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79806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你需要 KB、tool memory、feedback、MCP、self-host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73552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20040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你接受更高的系统复杂度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675888"/>
            <a:ext cx="64008" cy="6400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60273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关键词：平台能力、体系化、可扩展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1828800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D8EEF0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选 Supermemory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53712" y="2468880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39572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你想最快做出 memory-enhanced 产品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53712" y="2871216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79806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你已有 OpenAI-compatible 调用链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53712" y="3273552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20040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你希望 API、router、profiles、connectors 一站式搞定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3675888"/>
            <a:ext cx="64008" cy="6400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0273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关键词：接入快、产品化、context stack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28432" y="1828800"/>
            <a:ext cx="3182112" cy="3611880"/>
          </a:xfrm>
          <a:prstGeom prst="roundRect">
            <a:avLst>
              <a:gd name="adj" fmla="val 1437"/>
            </a:avLst>
          </a:prstGeom>
          <a:solidFill>
            <a:srgbClr val="F7DDD7"/>
          </a:solidFill>
          <a:ln w="12700">
            <a:solidFill>
              <a:srgbClr val="C65D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1993392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3"/>
                </a:solidFill>
              </a:rPr>
              <a:t>选 MemPalace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193024" y="2468880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395728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你更在意本地、隐私、原文保留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193024" y="2871216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2798064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你不想让系统先替你做 aggressive extraction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193024" y="3273552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20040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你愿意接受新项目的不确定性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193024" y="3675888"/>
            <a:ext cx="64008" cy="64008"/>
          </a:xfrm>
          <a:prstGeom prst="ellipse">
            <a:avLst/>
          </a:prstGeom>
          <a:solidFill>
            <a:srgbClr val="C65D4B"/>
          </a:solidFill>
          <a:ln w="12700">
            <a:solidFill>
              <a:srgbClr val="C65D4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602736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关键词：local-first、verbatim、个人 agent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讲法提示：用这一页收束很有效：不说谁绝对最好，而是说谁最适合什么样的建设路径。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7E89"/>
          </a:solidFill>
          <a:ln w="12700">
            <a:solidFill>
              <a:srgbClr val="177E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38404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7E8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 分钟版本的最后结论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如果你最后只想让大家带走 4 句话，这一页就是答案。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0241280" cy="3611880"/>
          </a:xfrm>
          <a:prstGeom prst="roundRect">
            <a:avLst>
              <a:gd name="adj" fmla="val 1266"/>
            </a:avLst>
          </a:prstGeom>
          <a:solidFill>
            <a:srgbClr val="FFFDF9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2039112"/>
            <a:ext cx="994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033"/>
                </a:solidFill>
              </a:rPr>
              <a:t>我希望听众最后记住的 4 件事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124712" y="2514600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441448"/>
            <a:ext cx="9784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第一，Agent memory 已经从“聊天历史管理”演化为独立基础设施问题。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24712" y="3118104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044952"/>
            <a:ext cx="9784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第二，不同 benchmark 测的是不同 memory 能力，榜单数字一定要分口径讲。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4712" y="3721608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648456"/>
            <a:ext cx="9784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第三，MemOS、Supermemory、MemPalace 分别代表 OS 化、基础设施化、本地原文派这 3 条路线。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24712" y="4325112"/>
            <a:ext cx="64008" cy="640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4251960"/>
            <a:ext cx="9784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第四，未来的竞争点不只是存储，而是写入、更新、检索、冲突处理和上下文装配。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559552"/>
            <a:ext cx="10469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</a:rPr>
              <a:t>一句话收尾：Agent memory 的下一阶段，不是谁“记得更多”，而是谁“更会管理记忆”。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6144768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EFE8DB"/>
          </a:solidFill>
          <a:ln w="12700">
            <a:solidFill>
              <a:srgbClr val="E7DED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27278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讲法提示：最后别再展开细节，就用这句话把分享收住，然后进入问答。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Memory: 从记忆机制到 Memory OS</dc:title>
  <dc:subject>Agent Memory history opening deck</dc:subject>
  <dc:creator>OpenAI Codex</dc:creator>
  <cp:lastModifiedBy>OpenAI Codex</cp:lastModifiedBy>
  <cp:revision>1</cp:revision>
  <dcterms:created xsi:type="dcterms:W3CDTF">2026-04-09T09:04:23Z</dcterms:created>
  <dcterms:modified xsi:type="dcterms:W3CDTF">2026-04-09T09:04:23Z</dcterms:modified>
</cp:coreProperties>
</file>